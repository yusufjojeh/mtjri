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Flow coverage</c:v>
                </c:pt>
              </c:strCache>
            </c:strRef>
          </c:tx>
          <c:spPr>
            <a:solidFill>
              <a:srgbClr val="2F6D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Catalog</c:v>
                  </c:pt>
                  <c:pt idx="1">
                    <c:v>Inventory</c:v>
                  </c:pt>
                  <c:pt idx="2">
                    <c:v>Orders</c:v>
                  </c:pt>
                  <c:pt idx="3">
                    <c:v>Customers</c:v>
                  </c:pt>
                  <c:pt idx="4">
                    <c:v>Reviews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88</c:v>
                </c:pt>
                <c:pt idx="2">
                  <c:v>92</c:v>
                </c:pt>
                <c:pt idx="3">
                  <c:v>84</c:v>
                </c:pt>
                <c:pt idx="4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Gateways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DB3"/>
              </a:solidFill>
              <a:effectLst/>
            </c:spPr>
          </c:dPt>
          <c:dPt>
            <c:idx val="1"/>
            <c:bubble3D val="0"/>
            <c:spPr>
              <a:solidFill>
                <a:srgbClr val="D6A648"/>
              </a:solidFill>
              <a:effectLst/>
            </c:spPr>
          </c:dPt>
          <c:dPt>
            <c:idx val="2"/>
            <c:bubble3D val="0"/>
            <c:spPr>
              <a:solidFill>
                <a:srgbClr val="2E8B57"/>
              </a:solidFill>
              <a:effectLst/>
            </c:spPr>
          </c:dPt>
          <c:dPt>
            <c:idx val="3"/>
            <c:bubble3D val="0"/>
            <c:spPr>
              <a:solidFill>
                <a:srgbClr val="8C6DD7"/>
              </a:solidFill>
              <a:effectLst/>
            </c:spPr>
          </c:dPt>
          <c:dPt>
            <c:idx val="4"/>
            <c:bubble3D val="0"/>
            <c:spPr>
              <a:solidFill>
                <a:srgbClr val="D95F5F"/>
              </a:solidFill>
              <a:effectLst/>
            </c:spPr>
          </c:dPt>
          <c:dPt>
            <c:idx val="5"/>
            <c:bubble3D val="0"/>
            <c:spPr>
              <a:solidFill>
                <a:srgbClr val="6D7A8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Asia-Pacific</c:v>
                </c:pt>
                <c:pt idx="1">
                  <c:v>Middle East</c:v>
                </c:pt>
                <c:pt idx="2">
                  <c:v>Africa</c:v>
                </c:pt>
                <c:pt idx="3">
                  <c:v>Europe</c:v>
                </c:pt>
                <c:pt idx="4">
                  <c:v>Americas</c:v>
                </c:pt>
                <c:pt idx="5">
                  <c:v>Global/Other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10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A648"/>
          </a:solidFill>
          <a:ln w="12700">
            <a:solidFill>
              <a:srgbClr val="D6A6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5486400" cy="5852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13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MTJRii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33"/>
                </a:solidFill>
              </a:rPr>
              <a:t>Multi-store commerce infrastructure for launching, operating, and scaling branded online storefronts.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35915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2"/>
                </a:solidFill>
              </a:rPr>
              <a:t>Deck generated from repository documentation and project assets using PptxGenJS. Focus: product breadth, operating model, and technical foundation.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1280160" cy="1078992"/>
          </a:xfrm>
          <a:prstGeom prst="roundRect">
            <a:avLst>
              <a:gd name="adj" fmla="val 10169"/>
            </a:avLst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345643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112" y="387705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gateways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48840" y="3291840"/>
            <a:ext cx="1280160" cy="1078992"/>
          </a:xfrm>
          <a:prstGeom prst="roundRect">
            <a:avLst>
              <a:gd name="adj" fmla="val 10169"/>
            </a:avLst>
          </a:prstGeom>
          <a:solidFill>
            <a:srgbClr val="DFF5EC"/>
          </a:solidFill>
          <a:ln w="12700">
            <a:solidFill>
              <a:srgbClr val="DFF5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13432" y="345643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13432" y="387705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themes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3291840"/>
            <a:ext cx="1280160" cy="1078992"/>
          </a:xfrm>
          <a:prstGeom prst="roundRect">
            <a:avLst>
              <a:gd name="adj" fmla="val 10169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0752" y="345643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30752" y="387705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96" dirty="0">
                <a:solidFill>
                  <a:srgbClr val="000000"/>
                </a:solidFill>
              </a:rPr>
              <a:t>Centralized dashboard for multiple storefronts</a:t>
            </a:r>
            <a:endParaRPr lang="en-US" sz="1496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96" dirty="0">
                <a:solidFill>
                  <a:srgbClr val="000000"/>
                </a:solidFill>
              </a:rPr>
              <a:t>AI-assisted content generation and localization</a:t>
            </a:r>
            <a:endParaRPr lang="en-US" sz="1496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96" dirty="0">
                <a:solidFill>
                  <a:srgbClr val="000000"/>
                </a:solidFill>
              </a:rPr>
              <a:t>Built-in billing, analytics, blog, and POS support</a:t>
            </a:r>
            <a:endParaRPr lang="en-US" sz="1496" dirty="0"/>
          </a:p>
        </p:txBody>
      </p:sp>
      <p:sp>
        <p:nvSpPr>
          <p:cNvPr id="17" name="Shape 15"/>
          <p:cNvSpPr/>
          <p:nvPr/>
        </p:nvSpPr>
        <p:spPr>
          <a:xfrm>
            <a:off x="6263640" y="594360"/>
            <a:ext cx="5394960" cy="5623560"/>
          </a:xfrm>
          <a:prstGeom prst="roundRect">
            <a:avLst>
              <a:gd name="adj" fmla="val 2034"/>
            </a:avLst>
          </a:prstGeom>
          <a:solidFill>
            <a:srgbClr val="EEF4FB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C:\Users\Yusuf\OneDrive\Desktop\mtjri\public\remotion\mtjrii-landing-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368" y="1950529"/>
            <a:ext cx="5175504" cy="29112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D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 single admin surface manages many branded stores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82"/>
                </a:solidFill>
              </a:rPr>
              <a:t>The core proposition is SaaS-level centralization without flattening each store’s identity or catalog.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508760" cy="1078992"/>
          </a:xfrm>
          <a:prstGeom prst="roundRect">
            <a:avLst>
              <a:gd name="adj" fmla="val 10169"/>
            </a:avLst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47672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Unlimited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36829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per owner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12848" y="1783080"/>
            <a:ext cx="1508760" cy="1078992"/>
          </a:xfrm>
          <a:prstGeom prst="roundRect">
            <a:avLst>
              <a:gd name="adj" fmla="val 10169"/>
            </a:avLst>
          </a:prstGeom>
          <a:solidFill>
            <a:srgbClr val="DFF5EC"/>
          </a:solidFill>
          <a:ln w="12700">
            <a:solidFill>
              <a:srgbClr val="DFF5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1947672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Unified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236829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control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77056" y="1783080"/>
            <a:ext cx="1508760" cy="1078992"/>
          </a:xfrm>
          <a:prstGeom prst="roundRect">
            <a:avLst>
              <a:gd name="adj" fmla="val 10169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41648" y="1947672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Flexible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41648" y="236829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plan-gated features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41264" y="1783080"/>
            <a:ext cx="1508760" cy="1078992"/>
          </a:xfrm>
          <a:prstGeom prst="roundRect">
            <a:avLst>
              <a:gd name="adj" fmla="val 10169"/>
            </a:avLst>
          </a:prstGeom>
          <a:solidFill>
            <a:srgbClr val="F7ECFF"/>
          </a:solidFill>
          <a:ln w="12700">
            <a:solidFill>
              <a:srgbClr val="F7ECF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05856" y="1947672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05856" y="236829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domains + SSL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4160520" cy="2560320"/>
          </a:xfrm>
          <a:prstGeom prst="roundRect">
            <a:avLst>
              <a:gd name="adj" fmla="val 3571"/>
            </a:avLst>
          </a:prstGeom>
          <a:solidFill>
            <a:srgbClr val="F4F7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64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model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370332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Store isolation keeps products, orders, and settings independent.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Store switching avoids re-login friction for operators managing several brands.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Plans control caps for products, users, storage, themes, domains, and AI features.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Featured stores and landing-page settings support marketplace-style promotion.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3035808"/>
            <a:ext cx="2880360" cy="2670048"/>
          </a:xfrm>
          <a:prstGeom prst="roundRect">
            <a:avLst>
              <a:gd name="adj" fmla="val 4110"/>
            </a:avLst>
          </a:prstGeom>
          <a:solidFill>
            <a:srgbClr val="F8FB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C:\Users\Yusuf\OneDrive\Desktop\mtjri\public\remotion\assets\landing-page\multi-stor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208" y="3622453"/>
            <a:ext cx="2660904" cy="1496759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138160" y="3035808"/>
            <a:ext cx="3520440" cy="2670048"/>
          </a:xfrm>
          <a:prstGeom prst="roundRect">
            <a:avLst>
              <a:gd name="adj" fmla="val 3425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94192" y="3328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94192" y="3675888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3" dirty="0">
                <a:solidFill>
                  <a:srgbClr val="000000"/>
                </a:solidFill>
              </a:rPr>
              <a:t>Fits agencies or merchants operating more than one store.</a:t>
            </a:r>
            <a:endParaRPr lang="en-US" sz="1023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3" dirty="0">
                <a:solidFill>
                  <a:srgbClr val="000000"/>
                </a:solidFill>
              </a:rPr>
              <a:t>Central governance reduces setup and maintenance cost.</a:t>
            </a:r>
            <a:endParaRPr lang="en-US" sz="1023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3" dirty="0">
                <a:solidFill>
                  <a:srgbClr val="000000"/>
                </a:solidFill>
              </a:rPr>
              <a:t>Brand-level flexibility stays visible at the storefront layer.</a:t>
            </a:r>
            <a:endParaRPr lang="en-US" sz="102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D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Commerce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Product, inventory, and order flows are first-class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82"/>
                </a:solidFill>
              </a:rPr>
              <a:t>The platform covers the standard merchant operating loop from merchandising through fulfillment.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4F7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Included capabilities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40864"/>
            <a:ext cx="3017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5" dirty="0">
                <a:solidFill>
                  <a:srgbClr val="000000"/>
                </a:solidFill>
              </a:rPr>
              <a:t>Product variants, SEO fields, media galleries, tags, and duplication tools.</a:t>
            </a:r>
            <a:endParaRPr lang="en-US" sz="1355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5" dirty="0">
                <a:solidFill>
                  <a:srgbClr val="000000"/>
                </a:solidFill>
              </a:rPr>
              <a:t>Real-time inventory tracking with low-stock thresholds and automatic deduction.</a:t>
            </a:r>
            <a:endParaRPr lang="en-US" sz="1355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5" dirty="0">
                <a:solidFill>
                  <a:srgbClr val="000000"/>
                </a:solidFill>
              </a:rPr>
              <a:t>Order lifecycle states from pending to delivered, including refunds.</a:t>
            </a:r>
            <a:endParaRPr lang="en-US" sz="1355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5" dirty="0">
                <a:solidFill>
                  <a:srgbClr val="000000"/>
                </a:solidFill>
              </a:rPr>
              <a:t>Customer accounts, multiple addresses, order history, and review workflows.</a:t>
            </a:r>
            <a:endParaRPr lang="en-US" sz="1355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5" dirty="0">
                <a:solidFill>
                  <a:srgbClr val="000000"/>
                </a:solidFill>
              </a:rPr>
              <a:t>Guest checkout, invoices, exports, and operational notes.</a:t>
            </a:r>
            <a:endParaRPr lang="en-US" sz="1355" dirty="0"/>
          </a:p>
        </p:txBody>
      </p:sp>
      <p:sp>
        <p:nvSpPr>
          <p:cNvPr id="8" name="Shape 6"/>
          <p:cNvSpPr/>
          <p:nvPr/>
        </p:nvSpPr>
        <p:spPr>
          <a:xfrm>
            <a:off x="4526280" y="1828800"/>
            <a:ext cx="3337560" cy="1901952"/>
          </a:xfrm>
          <a:prstGeom prst="roundRect">
            <a:avLst>
              <a:gd name="adj" fmla="val 5769"/>
            </a:avLst>
          </a:prstGeom>
          <a:solidFill>
            <a:srgbClr val="F8FB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pic>
        <p:nvPicPr>
          <p:cNvPr id="9" name="Image 0" descr="C:\Users\Yusuf\OneDrive\Desktop\mtjri\public\remotion\assets\landing-page\product-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508" y="1938528"/>
            <a:ext cx="2991104" cy="16824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26280" y="3968496"/>
            <a:ext cx="3337560" cy="1901952"/>
          </a:xfrm>
          <a:prstGeom prst="roundRect">
            <a:avLst>
              <a:gd name="adj" fmla="val 5769"/>
            </a:avLst>
          </a:prstGeom>
          <a:solidFill>
            <a:srgbClr val="F8FB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C:\Users\Yusuf\OneDrive\Desktop\mtjri\public\remotion\assets\landing-page\order-manage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508" y="4078224"/>
            <a:ext cx="2991104" cy="1682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83880" y="1828800"/>
            <a:ext cx="3474720" cy="404164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39912" y="20665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lifecycle</a:t>
            </a:r>
            <a:endParaRPr lang="en-US" sz="17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8412480" y="2487168"/>
          <a:ext cx="2834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 10"/>
          <p:cNvSpPr/>
          <p:nvPr/>
        </p:nvSpPr>
        <p:spPr>
          <a:xfrm>
            <a:off x="8430768" y="5212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emphasis derived from the repo’s documented feature depth, not runtime telemetry.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D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Payments, subscriptions, and localization broaden market reach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82"/>
                </a:solidFill>
              </a:rPr>
              <a:t>Documentation highlights both global processors and region-specific gateways, plus multilingual storefront delivery.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794760" cy="41605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Geographic payment coverage</a:t>
            </a:r>
            <a:endParaRPr lang="en-US" sz="1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468880"/>
          <a:ext cx="2880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52852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documented gateways support regional checkout strategies and plan-tier monetization.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45152" y="1828800"/>
            <a:ext cx="2907792" cy="2103120"/>
          </a:xfrm>
          <a:prstGeom prst="roundRect">
            <a:avLst>
              <a:gd name="adj" fmla="val 5217"/>
            </a:avLst>
          </a:prstGeom>
          <a:solidFill>
            <a:srgbClr val="F8FB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C:\Users\Yusuf\OneDrive\Desktop\mtjri\public\remotion\assets\landing-page\payment-integ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24265"/>
            <a:ext cx="2688336" cy="151218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45152" y="4160520"/>
            <a:ext cx="2907792" cy="173736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2700">
            <a:solidFill>
              <a:srgbClr val="D9E7F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64608" y="4407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Subscription controls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64608" y="473659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Monthly and yearly billing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Trials, coupons, upgrades, downgrades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Feature flags tied to plan limits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09560" y="1828800"/>
            <a:ext cx="3749040" cy="4069080"/>
          </a:xfrm>
          <a:prstGeom prst="roundRect">
            <a:avLst>
              <a:gd name="adj" fmla="val 2439"/>
            </a:avLst>
          </a:prstGeom>
          <a:solidFill>
            <a:srgbClr val="123B69"/>
          </a:solidFill>
          <a:ln w="12700">
            <a:solidFill>
              <a:srgbClr val="123B6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11312" y="2084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Localization snapshot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8211312" y="2542032"/>
            <a:ext cx="1051560" cy="1078992"/>
          </a:xfrm>
          <a:prstGeom prst="roundRect">
            <a:avLst>
              <a:gd name="adj" fmla="val 10435"/>
            </a:avLst>
          </a:prstGeom>
          <a:solidFill>
            <a:srgbClr val="214D80"/>
          </a:solidFill>
          <a:ln w="12700">
            <a:solidFill>
              <a:srgbClr val="214D8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375904" y="2706624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22+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375904" y="3127248"/>
            <a:ext cx="722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372600" y="2542032"/>
            <a:ext cx="1051560" cy="1078992"/>
          </a:xfrm>
          <a:prstGeom prst="roundRect">
            <a:avLst>
              <a:gd name="adj" fmla="val 10435"/>
            </a:avLst>
          </a:prstGeom>
          <a:solidFill>
            <a:srgbClr val="214D80"/>
          </a:solidFill>
          <a:ln w="12700">
            <a:solidFill>
              <a:srgbClr val="214D8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537192" y="2706624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10+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9537192" y="3127248"/>
            <a:ext cx="722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10533888" y="2542032"/>
            <a:ext cx="1051560" cy="1078992"/>
          </a:xfrm>
          <a:prstGeom prst="roundRect">
            <a:avLst>
              <a:gd name="adj" fmla="val 10435"/>
            </a:avLst>
          </a:prstGeom>
          <a:solidFill>
            <a:srgbClr val="214D80"/>
          </a:solidFill>
          <a:ln w="12700">
            <a:solidFill>
              <a:srgbClr val="214D8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0698480" y="2706624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10698480" y="3127248"/>
            <a:ext cx="722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assist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211312" y="3675888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3" dirty="0">
                <a:solidFill>
                  <a:srgbClr val="000000"/>
                </a:solidFill>
              </a:rPr>
              <a:t>Frontend localization uses i18next and multilingual resource files.</a:t>
            </a:r>
            <a:endParaRPr lang="en-US" sz="1023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3" dirty="0">
                <a:solidFill>
                  <a:srgbClr val="000000"/>
                </a:solidFill>
              </a:rPr>
              <a:t>Theme selection, branding, and domain options keep each storefront distinct.</a:t>
            </a:r>
            <a:endParaRPr lang="en-US" sz="1023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3" dirty="0">
                <a:solidFill>
                  <a:srgbClr val="000000"/>
                </a:solidFill>
              </a:rPr>
              <a:t>AI-generated content expands merchandising and landing-page throughput.</a:t>
            </a:r>
            <a:endParaRPr lang="en-US" sz="102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D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Storefront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Ten-plus themes cover distinct verticals without rebuilding the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82"/>
                </a:solidFill>
              </a:rPr>
              <a:t>The theme system is the visible part of the multi-store strategy: different front doors, shared operating core.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F8FB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\Users\Yusuf\OneDrive\Desktop\mtjri\public\remotion\assets\landing-page\theme-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77776"/>
            <a:ext cx="3941064" cy="221684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83480" y="1783080"/>
            <a:ext cx="2743200" cy="420624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30368" y="20482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Theme catalog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230368" y="2359152"/>
            <a:ext cx="2148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</a:rPr>
              <a:t>Home &amp; Accessories</a:t>
            </a:r>
            <a:endParaRPr lang="en-US" sz="134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</a:rPr>
              <a:t>Fashion &amp; Apparel</a:t>
            </a:r>
            <a:endParaRPr lang="en-US" sz="134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</a:rPr>
              <a:t>Electronics &amp; Technology</a:t>
            </a:r>
            <a:endParaRPr lang="en-US" sz="134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</a:rPr>
              <a:t>Beauty &amp; Cosmetics</a:t>
            </a:r>
            <a:endParaRPr lang="en-US" sz="134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</a:rPr>
              <a:t>Jewelry &amp; Accessories</a:t>
            </a:r>
            <a:endParaRPr lang="en-US" sz="134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</a:rPr>
              <a:t>Watches &amp; Timepieces</a:t>
            </a:r>
            <a:endParaRPr lang="en-US" sz="134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</a:rPr>
              <a:t>Furniture &amp; Interior</a:t>
            </a:r>
            <a:endParaRPr lang="en-US" sz="134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</a:rPr>
              <a:t>Cars &amp; Automotive</a:t>
            </a:r>
            <a:endParaRPr lang="en-US" sz="134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</a:rPr>
              <a:t>Baby &amp; Kids</a:t>
            </a:r>
            <a:endParaRPr lang="en-US" sz="134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40" dirty="0">
                <a:solidFill>
                  <a:srgbClr val="000000"/>
                </a:solidFill>
              </a:rPr>
              <a:t>Perfume &amp; Fragrances</a:t>
            </a:r>
            <a:endParaRPr lang="en-US" sz="1340" dirty="0"/>
          </a:p>
        </p:txBody>
      </p:sp>
      <p:sp>
        <p:nvSpPr>
          <p:cNvPr id="10" name="Shape 7"/>
          <p:cNvSpPr/>
          <p:nvPr/>
        </p:nvSpPr>
        <p:spPr>
          <a:xfrm>
            <a:off x="8001000" y="178308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47888" y="20482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Theme design principles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47888" y="2377440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1" dirty="0">
                <a:solidFill>
                  <a:srgbClr val="000000"/>
                </a:solidFill>
              </a:rPr>
              <a:t>Responsive layouts for mobile-first browsing</a:t>
            </a:r>
            <a:endParaRPr lang="en-US" sz="1051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1" dirty="0">
                <a:solidFill>
                  <a:srgbClr val="000000"/>
                </a:solidFill>
              </a:rPr>
              <a:t>Custom colors and branding per store</a:t>
            </a:r>
            <a:endParaRPr lang="en-US" sz="1051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1" dirty="0">
                <a:solidFill>
                  <a:srgbClr val="000000"/>
                </a:solidFill>
              </a:rPr>
              <a:t>Theme-specific merchandising sections</a:t>
            </a:r>
            <a:endParaRPr lang="en-US" sz="1051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1" dirty="0">
                <a:solidFill>
                  <a:srgbClr val="000000"/>
                </a:solidFill>
              </a:rPr>
              <a:t>SEO-aware page structure</a:t>
            </a:r>
            <a:endParaRPr lang="en-US" sz="1051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1" dirty="0">
                <a:solidFill>
                  <a:srgbClr val="000000"/>
                </a:solidFill>
              </a:rPr>
              <a:t>Fast-loading image and content presentation</a:t>
            </a:r>
            <a:endParaRPr lang="en-US" sz="1051" dirty="0"/>
          </a:p>
        </p:txBody>
      </p:sp>
      <p:sp>
        <p:nvSpPr>
          <p:cNvPr id="13" name="Shape 10"/>
          <p:cNvSpPr/>
          <p:nvPr/>
        </p:nvSpPr>
        <p:spPr>
          <a:xfrm>
            <a:off x="8247888" y="4526280"/>
            <a:ext cx="2926080" cy="984885"/>
          </a:xfrm>
          <a:prstGeom prst="roundRect">
            <a:avLst>
              <a:gd name="adj" fmla="val 7427"/>
            </a:avLst>
          </a:prstGeom>
          <a:solidFill>
            <a:srgbClr val="FFF7E7"/>
          </a:solidFill>
          <a:ln w="12700">
            <a:solidFill>
              <a:srgbClr val="F1D2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4681728"/>
            <a:ext cx="2596896" cy="756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abstraction reduces the cost of entering a new category while keeping the back-office model stable.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D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Modern full-stack tooling supports the product surface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82"/>
                </a:solidFill>
              </a:rPr>
              <a:t>The repository couples Laravel 12 on the backend with React 19, Inertia.js, TypeScript, and a broad test/configuration surface.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663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29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summary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359152"/>
            <a:ext cx="4480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Laravel 12 application structure with migrations, policies, queues, and services.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React 19 + Inertia.js + TypeScript frontend, themed storefront pages, and admin workflows.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Vite build pipeline, Jest and Playwright coverage, plus extensive repo documentation.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Remotion assets indicate a reusable visual/content production layer for product marketing.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4526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lanes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4846320"/>
            <a:ext cx="1325880" cy="713232"/>
          </a:xfrm>
          <a:prstGeom prst="roundRect">
            <a:avLst>
              <a:gd name="adj" fmla="val 7692"/>
            </a:avLst>
          </a:prstGeom>
          <a:solidFill>
            <a:srgbClr val="E8F0FB"/>
          </a:solidFill>
          <a:ln w="12700">
            <a:solidFill>
              <a:srgbClr val="C7D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50932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Laravel 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5047488"/>
            <a:ext cx="411480" cy="256032"/>
          </a:xfrm>
          <a:prstGeom prst="chevron">
            <a:avLst/>
          </a:prstGeom>
          <a:solidFill>
            <a:srgbClr val="D6A648"/>
          </a:solidFill>
          <a:ln w="12700">
            <a:solidFill>
              <a:srgbClr val="D6A6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4846320"/>
            <a:ext cx="1325880" cy="713232"/>
          </a:xfrm>
          <a:prstGeom prst="roundRect">
            <a:avLst>
              <a:gd name="adj" fmla="val 7692"/>
            </a:avLst>
          </a:prstGeom>
          <a:solidFill>
            <a:srgbClr val="E7F7F0"/>
          </a:solidFill>
          <a:ln w="12700">
            <a:solidFill>
              <a:srgbClr val="CBE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50932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A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admin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69080" y="5047488"/>
            <a:ext cx="411480" cy="256032"/>
          </a:xfrm>
          <a:prstGeom prst="chevron">
            <a:avLst/>
          </a:prstGeom>
          <a:solidFill>
            <a:srgbClr val="D6A648"/>
          </a:solidFill>
          <a:ln w="12700">
            <a:solidFill>
              <a:srgbClr val="D6A6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4846320"/>
            <a:ext cx="914400" cy="713232"/>
          </a:xfrm>
          <a:prstGeom prst="roundRect">
            <a:avLst>
              <a:gd name="adj" fmla="val 7692"/>
            </a:avLst>
          </a:prstGeom>
          <a:solidFill>
            <a:srgbClr val="FFF3D8"/>
          </a:solidFill>
          <a:ln w="12700">
            <a:solidFill>
              <a:srgbClr val="F1D2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509320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783080"/>
            <a:ext cx="5669280" cy="2926080"/>
          </a:xfrm>
          <a:prstGeom prst="roundRect">
            <a:avLst>
              <a:gd name="adj" fmla="val 3750"/>
            </a:avLst>
          </a:prstGeom>
          <a:solidFill>
            <a:srgbClr val="EEF4FB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C:\Users\Yusuf\OneDrive\Desktop\mtjri\public\remotion\mtjrii-hero-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8072" y="1892808"/>
            <a:ext cx="4811776" cy="270662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989320" y="4956048"/>
            <a:ext cx="5669280" cy="1124712"/>
          </a:xfrm>
          <a:prstGeom prst="roundRect">
            <a:avLst>
              <a:gd name="adj" fmla="val 6504"/>
            </a:avLst>
          </a:prstGeom>
          <a:solidFill>
            <a:srgbClr val="123B69"/>
          </a:solidFill>
          <a:ln w="12700">
            <a:solidFill>
              <a:srgbClr val="123B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72784" y="528523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Takeaway: MTJRii is positioned as a broad commerce operating system rather than a narrow storefront template package.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MTJRii Platform Overview</dc:title>
  <dc:subject>MTJRii platform overview</dc:subject>
  <dc:creator>OpenAI Codex</dc:creator>
  <cp:lastModifiedBy>OpenAI Codex</cp:lastModifiedBy>
  <cp:revision>1</cp:revision>
  <dcterms:created xsi:type="dcterms:W3CDTF">2026-04-18T22:37:07Z</dcterms:created>
  <dcterms:modified xsi:type="dcterms:W3CDTF">2026-04-18T22:37:07Z</dcterms:modified>
</cp:coreProperties>
</file>